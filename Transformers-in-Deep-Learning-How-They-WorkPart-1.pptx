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6" r:id="rId4"/>
    <p:sldId id="258" r:id="rId5"/>
    <p:sldId id="259" r:id="rId6"/>
    <p:sldId id="267" r:id="rId7"/>
    <p:sldId id="260" r:id="rId8"/>
    <p:sldId id="268" r:id="rId9"/>
    <p:sldId id="261" r:id="rId10"/>
    <p:sldId id="269" r:id="rId11"/>
    <p:sldId id="262" r:id="rId12"/>
    <p:sldId id="263" r:id="rId13"/>
    <p:sldId id="264" r:id="rId14"/>
    <p:sldId id="265" r:id="rId15"/>
  </p:sldIdLst>
  <p:sldSz cx="14630400" cy="8229600"/>
  <p:notesSz cx="8229600" cy="14630400"/>
  <p:embeddedFontLst>
    <p:embeddedFont>
      <p:font typeface="MingLiU_HKSCS-ExtB" panose="02020500000000000000" pitchFamily="18" charset="-120"/>
      <p:regular r:id="rId17"/>
    </p:embeddedFont>
    <p:embeddedFont>
      <p:font typeface="Inconsolata" pitchFamily="1" charset="0"/>
      <p:regular r:id="rId18"/>
    </p:embeddedFont>
    <p:embeddedFont>
      <p:font typeface="Montserrat Black" panose="00000A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204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4AD8-BA8F-E041-2CE3-278640155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DA822-5399-CB8A-279D-CD067F392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53CDA-CE49-FA1B-303F-36DF0D0E7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CED81-E121-7797-030F-2A636345C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32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B51B-5957-4F95-9AB4-D2586BB6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0934F-2309-F944-3673-51E915F52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931BA-7D3C-154A-1C11-8CF387306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9395D-EE0E-6E4A-A4A0-9A8214B02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15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D2EC2-0B34-CD27-D7F2-B0602343B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C0410-18D6-4B97-745B-9E652CEE7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A8451-A423-6AD5-97FA-D622CD772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EF006-02D6-32ED-C75E-44679AF8BB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96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6976-EA72-CA54-A204-63CFFA13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5C397-FA51-FFB6-1726-118046325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E2F26-B600-D345-0036-DBCBBCE69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00BFE-4B6A-8E6A-5F2D-5227C0FF5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63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33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4800" y="251223"/>
            <a:ext cx="14630400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Transformers in Deep Learning: How They Work</a:t>
            </a:r>
            <a:endParaRPr lang="en-US" sz="4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416E0A-8579-8C6F-BFBA-9DB11EA94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3733"/>
            <a:ext cx="14633254" cy="502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CD148FB-3F44-1355-88CE-E0388917D9FF}"/>
              </a:ext>
            </a:extLst>
          </p:cNvPr>
          <p:cNvSpPr/>
          <p:nvPr/>
        </p:nvSpPr>
        <p:spPr>
          <a:xfrm>
            <a:off x="7983795" y="7127656"/>
            <a:ext cx="6469626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ingLiU_HKSCS-ExtB" panose="02020500000000000000" pitchFamily="18" charset="-120"/>
                <a:ea typeface="MingLiU_HKSCS-ExtB" panose="02020500000000000000" pitchFamily="18" charset="-120"/>
                <a:cs typeface="ADLaM Display" panose="02010000000000000000" pitchFamily="2" charset="0"/>
              </a:rPr>
              <a:t>Presented by Dr. Ghulam Gilanie</a:t>
            </a:r>
            <a:endParaRPr lang="en-US" sz="3200" b="1" dirty="0">
              <a:latin typeface="MingLiU_HKSCS-ExtB" panose="02020500000000000000" pitchFamily="18" charset="-120"/>
              <a:ea typeface="MingLiU_HKSCS-ExtB" panose="02020500000000000000" pitchFamily="18" charset="-12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3990" y="400526"/>
            <a:ext cx="8156019" cy="882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Revolution in AI: Why Transformers Matter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3990" y="1706166"/>
            <a:ext cx="8156019" cy="1266111"/>
          </a:xfrm>
          <a:prstGeom prst="roundRect">
            <a:avLst>
              <a:gd name="adj" fmla="val 5778"/>
            </a:avLst>
          </a:prstGeom>
          <a:solidFill>
            <a:srgbClr val="F8ECE4"/>
          </a:solidFill>
          <a:ln/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93990" y="1690926"/>
            <a:ext cx="8156019" cy="60960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360307" y="1494473"/>
            <a:ext cx="423386" cy="423386"/>
          </a:xfrm>
          <a:prstGeom prst="roundRect">
            <a:avLst>
              <a:gd name="adj" fmla="val 215973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7347" y="1621512"/>
            <a:ext cx="169307" cy="1693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319" y="2059067"/>
            <a:ext cx="1764506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New Paradigm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0319" y="2364224"/>
            <a:ext cx="7843361" cy="45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Introduced in 2017 by Vaswani et al. in </a:t>
            </a:r>
            <a:r>
              <a:rPr lang="en-US" sz="11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"Attention is All You Need"</a:t>
            </a: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Transformers marked a pivotal moment in AI.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93990" y="3325058"/>
            <a:ext cx="8156019" cy="1266111"/>
          </a:xfrm>
          <a:prstGeom prst="roundRect">
            <a:avLst>
              <a:gd name="adj" fmla="val 5778"/>
            </a:avLst>
          </a:prstGeom>
          <a:solidFill>
            <a:srgbClr val="F8ECE4"/>
          </a:solidFill>
          <a:ln/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93990" y="3309818"/>
            <a:ext cx="8156019" cy="60960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60307" y="3113365"/>
            <a:ext cx="423386" cy="423386"/>
          </a:xfrm>
          <a:prstGeom prst="roundRect">
            <a:avLst>
              <a:gd name="adj" fmla="val 215973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7347" y="3240405"/>
            <a:ext cx="169307" cy="1693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0319" y="3677960"/>
            <a:ext cx="1829872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Parallel Processing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50319" y="3983117"/>
            <a:ext cx="7843361" cy="45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They revolutionised sequence processing by enabling parallel computation, a significant leap from traditional Recurrent Neural Networks (RNNs).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93990" y="4943951"/>
            <a:ext cx="8156019" cy="1266111"/>
          </a:xfrm>
          <a:prstGeom prst="roundRect">
            <a:avLst>
              <a:gd name="adj" fmla="val 5778"/>
            </a:avLst>
          </a:prstGeom>
          <a:solidFill>
            <a:srgbClr val="F8ECE4"/>
          </a:solidFill>
          <a:ln/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93990" y="4928711"/>
            <a:ext cx="8156019" cy="60960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360307" y="4732258"/>
            <a:ext cx="423386" cy="423386"/>
          </a:xfrm>
          <a:prstGeom prst="roundRect">
            <a:avLst>
              <a:gd name="adj" fmla="val 215973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7347" y="4859298"/>
            <a:ext cx="169307" cy="16930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0319" y="5296853"/>
            <a:ext cx="196084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Powering Modern AI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50319" y="5602010"/>
            <a:ext cx="7843361" cy="45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Transformers are the core technology behind models like OpenAI’s GPT, Google’s BERT, and DeepMind’s AlphaStar, driving unprecedented advancements.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3990" y="6562844"/>
            <a:ext cx="8156019" cy="1266111"/>
          </a:xfrm>
          <a:prstGeom prst="roundRect">
            <a:avLst>
              <a:gd name="adj" fmla="val 5778"/>
            </a:avLst>
          </a:prstGeom>
          <a:solidFill>
            <a:srgbClr val="F8ECE4"/>
          </a:solidFill>
          <a:ln/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93990" y="6547604"/>
            <a:ext cx="8156019" cy="60960"/>
          </a:xfrm>
          <a:prstGeom prst="roundRect">
            <a:avLst>
              <a:gd name="adj" fmla="val 15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360307" y="6351151"/>
            <a:ext cx="423386" cy="423386"/>
          </a:xfrm>
          <a:prstGeom prst="roundRect">
            <a:avLst>
              <a:gd name="adj" fmla="val 215973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7347" y="6478191"/>
            <a:ext cx="169307" cy="16930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0319" y="6915745"/>
            <a:ext cx="1764506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Broad Impact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50319" y="7220903"/>
            <a:ext cx="7843361" cy="45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Their influence spans Natural Language Processing (NLP), computer vision, speech recognition, and many other domains, transforming AI capabilities.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B09E-4024-DB73-8124-4BD2744E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FA906CA-3306-5DBD-F383-D040D58B1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7347" y="1621512"/>
            <a:ext cx="169307" cy="169307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37FC0112-C2F4-67F2-17C0-7213E4B06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7347" y="3240405"/>
            <a:ext cx="169307" cy="169307"/>
          </a:xfrm>
          <a:prstGeom prst="rect">
            <a:avLst/>
          </a:prstGeom>
        </p:spPr>
      </p:pic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7B118C66-F18C-4D21-8738-234CB4F357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7347" y="4859298"/>
            <a:ext cx="169307" cy="169307"/>
          </a:xfrm>
          <a:prstGeom prst="rect">
            <a:avLst/>
          </a:prstGeom>
        </p:spPr>
      </p:pic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02CE44B3-FF60-4E93-4902-865A9D9779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7347" y="6478191"/>
            <a:ext cx="169307" cy="16930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1EDD4C0-47B1-3265-E80E-86E61477B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79" y="1812238"/>
            <a:ext cx="1190625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475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453" y="453747"/>
            <a:ext cx="13475494" cy="103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From Words to Numbers: Embeddings &amp; Positional Encoding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524036" y="1897380"/>
            <a:ext cx="206252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Tokenisation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24036" y="2320052"/>
            <a:ext cx="6536531" cy="52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Input text is first broken down into smaller units called tokens, which can be individual words or subwords.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24036" y="3012877"/>
            <a:ext cx="251079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Semantic Embeddings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24036" y="3435548"/>
            <a:ext cx="6536531" cy="52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These tokens are then converted into dense numerical vectors, known as embeddings, which capture the semantic meaning of each token.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24036" y="4128373"/>
            <a:ext cx="206252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Preserving Order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24036" y="4551045"/>
            <a:ext cx="6536531" cy="791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Crucially, positional encodings are added to these embeddings to ensure the model retains information about the original word order, overcoming the lack of recurrence found in RNNs.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24036" y="5507831"/>
            <a:ext cx="296334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Contextual Understanding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24036" y="5930503"/>
            <a:ext cx="6536531" cy="52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process allows the Transformer to understand the sequence's context despite processing all tokens simultaneously.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0344261-7637-ABE1-FC6E-A99C3FD79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223963"/>
            <a:ext cx="14233496" cy="527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70D6-B304-FD2D-F5DF-7935CEAC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2D6D6C-5B32-8CEC-FEBC-4370A1CC76F6}"/>
              </a:ext>
            </a:extLst>
          </p:cNvPr>
          <p:cNvSpPr/>
          <p:nvPr/>
        </p:nvSpPr>
        <p:spPr>
          <a:xfrm>
            <a:off x="793790" y="70842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Heart of the Transformer: Self-Attention Mechanism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09251E-B4AA-CA35-F30B-2D6A5725CC34}"/>
              </a:ext>
            </a:extLst>
          </p:cNvPr>
          <p:cNvSpPr/>
          <p:nvPr/>
        </p:nvSpPr>
        <p:spPr>
          <a:xfrm>
            <a:off x="1576745" y="2761059"/>
            <a:ext cx="31157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Token Relationships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AD4D12-98AF-BE82-559C-4A4E12C6ACAD}"/>
              </a:ext>
            </a:extLst>
          </p:cNvPr>
          <p:cNvSpPr/>
          <p:nvPr/>
        </p:nvSpPr>
        <p:spPr>
          <a:xfrm>
            <a:off x="793790" y="3251478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token within a sequence "attends" to every other token, determining its relevance.</a:t>
            </a:r>
            <a:endParaRPr lang="en-US" sz="1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874D96A-BB0E-9BC8-3ACA-926E5388A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FA8CEAA-4672-C6CC-40CB-FF5B6EF65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3573304"/>
            <a:ext cx="339328" cy="33932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045727B-6D86-0BDB-D9DB-F95D154AC3BF}"/>
              </a:ext>
            </a:extLst>
          </p:cNvPr>
          <p:cNvSpPr/>
          <p:nvPr/>
        </p:nvSpPr>
        <p:spPr>
          <a:xfrm>
            <a:off x="9937790" y="2579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Attention Scores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AF582AD-8D7D-DECA-C943-4AA5940C5B5F}"/>
              </a:ext>
            </a:extLst>
          </p:cNvPr>
          <p:cNvSpPr/>
          <p:nvPr/>
        </p:nvSpPr>
        <p:spPr>
          <a:xfrm>
            <a:off x="9937790" y="3070027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mechanism calculates attention scores, assigning weights to indicate the importance of other tokens to the current one.</a:t>
            </a:r>
            <a:endParaRPr lang="en-US" sz="17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8DE1299C-6754-9109-E8AB-92EE0D0A2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30019B30-36B5-FB86-1AF4-D1DA6F5CEA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2604" y="3961805"/>
            <a:ext cx="339328" cy="33932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8BF31D54-B52A-DAB6-49E0-29B4FAC2E54F}"/>
              </a:ext>
            </a:extLst>
          </p:cNvPr>
          <p:cNvSpPr/>
          <p:nvPr/>
        </p:nvSpPr>
        <p:spPr>
          <a:xfrm>
            <a:off x="9937790" y="4861798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Long-Range Dependencies</a:t>
            </a:r>
            <a:endParaRPr lang="en-US" sz="2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EFE5FA1-895A-6A6F-3124-827842228831}"/>
              </a:ext>
            </a:extLst>
          </p:cNvPr>
          <p:cNvSpPr/>
          <p:nvPr/>
        </p:nvSpPr>
        <p:spPr>
          <a:xfrm>
            <a:off x="9937790" y="5706547"/>
            <a:ext cx="38988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innovative approach effectively captures long-range dependencies and complex contextual relationships within the data.</a:t>
            </a:r>
            <a:endParaRPr lang="en-US" sz="175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9EA0B6F6-0C4D-0C72-15AD-76E2A9201E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F37F08DC-AC1D-62CF-613A-C77D05AE7D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103" y="6187678"/>
            <a:ext cx="339328" cy="339328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141C9DF9-9DDA-39F6-AA07-90B8F4B43705}"/>
              </a:ext>
            </a:extLst>
          </p:cNvPr>
          <p:cNvSpPr/>
          <p:nvPr/>
        </p:nvSpPr>
        <p:spPr>
          <a:xfrm>
            <a:off x="1857256" y="52204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Global Context</a:t>
            </a:r>
            <a:endParaRPr lang="en-US" sz="22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7616D7F-6D83-9F2C-0DA6-5597E26BC5AF}"/>
              </a:ext>
            </a:extLst>
          </p:cNvPr>
          <p:cNvSpPr/>
          <p:nvPr/>
        </p:nvSpPr>
        <p:spPr>
          <a:xfrm>
            <a:off x="793790" y="5710833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Self-attention replaces the sequential memory of RNNs with a far more powerful global context awareness.</a:t>
            </a:r>
            <a:endParaRPr lang="en-US" sz="1750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60B0F03-1660-816D-997D-4475D351C5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3025253C-32A1-14C9-1DBB-C916D033EA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230" y="5799177"/>
            <a:ext cx="339328" cy="33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4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66F882B-E829-6307-9388-D21F34528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3" y="0"/>
            <a:ext cx="701198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094E8-2EED-BF26-A0E5-412F5505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E39DC6-3D9E-66FF-21B9-D90260A7E0BB}"/>
              </a:ext>
            </a:extLst>
          </p:cNvPr>
          <p:cNvSpPr/>
          <p:nvPr/>
        </p:nvSpPr>
        <p:spPr>
          <a:xfrm>
            <a:off x="586502" y="460772"/>
            <a:ext cx="13438823" cy="523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Multi-Head Attention: Seeing Context from Multiple Angles</a:t>
            </a:r>
            <a:endParaRPr lang="en-US" sz="3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981F55-F8EB-8B8C-5B99-8D5E3F4AD5CC}"/>
              </a:ext>
            </a:extLst>
          </p:cNvPr>
          <p:cNvSpPr/>
          <p:nvPr/>
        </p:nvSpPr>
        <p:spPr>
          <a:xfrm>
            <a:off x="586502" y="1403271"/>
            <a:ext cx="2094786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Parallel Insights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7EE7F0-94FB-0359-7075-D145A9B8F446}"/>
              </a:ext>
            </a:extLst>
          </p:cNvPr>
          <p:cNvSpPr/>
          <p:nvPr/>
        </p:nvSpPr>
        <p:spPr>
          <a:xfrm>
            <a:off x="586502" y="1832491"/>
            <a:ext cx="6524268" cy="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Multi-head attention employs several "attention heads" that operate in parallel. Each head is trained to focus on different aspects or relationships within the input.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93ADA9-C119-A00E-08B0-A29EB5CA07BB}"/>
              </a:ext>
            </a:extLst>
          </p:cNvPr>
          <p:cNvSpPr/>
          <p:nvPr/>
        </p:nvSpPr>
        <p:spPr>
          <a:xfrm>
            <a:off x="586502" y="2804398"/>
            <a:ext cx="2794873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Diverse Representations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762376-AC5E-817F-F2E3-0CF3380A0EDB}"/>
              </a:ext>
            </a:extLst>
          </p:cNvPr>
          <p:cNvSpPr/>
          <p:nvPr/>
        </p:nvSpPr>
        <p:spPr>
          <a:xfrm>
            <a:off x="586502" y="3233618"/>
            <a:ext cx="6524268" cy="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allows the model to jointly attend to information from various representation subspaces, akin to looking at the same problem through multiple lenses.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9DA59E2-FE04-807F-D5D5-1A915698E390}"/>
              </a:ext>
            </a:extLst>
          </p:cNvPr>
          <p:cNvSpPr/>
          <p:nvPr/>
        </p:nvSpPr>
        <p:spPr>
          <a:xfrm>
            <a:off x="586502" y="4205526"/>
            <a:ext cx="2198489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Learning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CFF9976-6FBF-61CC-E0EA-F0CAED874E1F}"/>
              </a:ext>
            </a:extLst>
          </p:cNvPr>
          <p:cNvSpPr/>
          <p:nvPr/>
        </p:nvSpPr>
        <p:spPr>
          <a:xfrm>
            <a:off x="586502" y="4634746"/>
            <a:ext cx="6524268" cy="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By combining these diverse perspectives, multi-head attention significantly improves the model's ability to learn complex patterns and capture the nuances of language and data.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FCB9F46-DA5C-EBD0-FD47-069C54BC7B61}"/>
              </a:ext>
            </a:extLst>
          </p:cNvPr>
          <p:cNvSpPr/>
          <p:nvPr/>
        </p:nvSpPr>
        <p:spPr>
          <a:xfrm>
            <a:off x="586502" y="5606653"/>
            <a:ext cx="2499003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Richer Understanding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EEBBC0-3927-E85A-ADA1-0B5C268F9EFD}"/>
              </a:ext>
            </a:extLst>
          </p:cNvPr>
          <p:cNvSpPr/>
          <p:nvPr/>
        </p:nvSpPr>
        <p:spPr>
          <a:xfrm>
            <a:off x="586502" y="6035873"/>
            <a:ext cx="6524268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It provides a richer, more comprehensive understanding of the context, crucial for sophisticated AI tasks.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6051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625" y="4372451"/>
            <a:ext cx="203359" cy="203359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9664" y="4372451"/>
            <a:ext cx="203359" cy="203359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625" y="6490692"/>
            <a:ext cx="203359" cy="203359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D371901B-19FD-AB3D-DE36-4779B5046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88" y="0"/>
            <a:ext cx="6423025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BCB4-6803-BC73-4BB0-714265F8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23917C8-8BFB-F6BD-E71A-8888F4D59F4E}"/>
              </a:ext>
            </a:extLst>
          </p:cNvPr>
          <p:cNvSpPr/>
          <p:nvPr/>
        </p:nvSpPr>
        <p:spPr>
          <a:xfrm>
            <a:off x="527209" y="535543"/>
            <a:ext cx="8089583" cy="94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Transformer Architecture: Encoder and Decoder Blocks</a:t>
            </a:r>
            <a:endParaRPr lang="en-US" sz="295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C0556C18-A80F-9445-C856-B6E725ED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9" y="1702713"/>
            <a:ext cx="753189" cy="110894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A8AC164A-F25E-B68B-7CE5-91DFAD261E04}"/>
              </a:ext>
            </a:extLst>
          </p:cNvPr>
          <p:cNvSpPr/>
          <p:nvPr/>
        </p:nvSpPr>
        <p:spPr>
          <a:xfrm>
            <a:off x="1431012" y="1853327"/>
            <a:ext cx="269652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Encoder: Input Processing</a:t>
            </a:r>
            <a:endParaRPr lang="en-US" sz="14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75B9C4D-5228-B250-8FA3-CBD8526A608E}"/>
              </a:ext>
            </a:extLst>
          </p:cNvPr>
          <p:cNvSpPr/>
          <p:nvPr/>
        </p:nvSpPr>
        <p:spPr>
          <a:xfrm>
            <a:off x="1431012" y="2179082"/>
            <a:ext cx="7185779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Encoder block takes the input sequence and processes it to build rich, contextual embeddings, understanding the input thoroughly.</a:t>
            </a:r>
            <a:endParaRPr lang="en-US" sz="115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AD1CED85-9365-8983-A28C-500B2979C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09" y="2811661"/>
            <a:ext cx="753189" cy="110894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811A3DE2-3E7A-6EFB-58A5-689BFB990FCC}"/>
              </a:ext>
            </a:extLst>
          </p:cNvPr>
          <p:cNvSpPr/>
          <p:nvPr/>
        </p:nvSpPr>
        <p:spPr>
          <a:xfrm>
            <a:off x="1431012" y="2962275"/>
            <a:ext cx="289452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Decoder: Output Generation</a:t>
            </a:r>
            <a:endParaRPr lang="en-US" sz="14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F0D90C2-81E4-C19D-7D93-AC384EA5DFB8}"/>
              </a:ext>
            </a:extLst>
          </p:cNvPr>
          <p:cNvSpPr/>
          <p:nvPr/>
        </p:nvSpPr>
        <p:spPr>
          <a:xfrm>
            <a:off x="1431012" y="3288030"/>
            <a:ext cx="7185779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Decoder block then generates the output sequence, leveraging the encoder's outputs and attending to previously generated tokens for coherent generation.</a:t>
            </a:r>
            <a:endParaRPr lang="en-US" sz="11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BD650F78-4527-7DCB-9358-CEFCF2676BC2}"/>
              </a:ext>
            </a:extLst>
          </p:cNvPr>
          <p:cNvSpPr/>
          <p:nvPr/>
        </p:nvSpPr>
        <p:spPr>
          <a:xfrm>
            <a:off x="527209" y="4090035"/>
            <a:ext cx="3969425" cy="1967627"/>
          </a:xfrm>
          <a:prstGeom prst="roundRect">
            <a:avLst>
              <a:gd name="adj" fmla="val 46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845A682-6800-DF73-BA26-F5B88783428F}"/>
              </a:ext>
            </a:extLst>
          </p:cNvPr>
          <p:cNvSpPr/>
          <p:nvPr/>
        </p:nvSpPr>
        <p:spPr>
          <a:xfrm>
            <a:off x="685443" y="4248269"/>
            <a:ext cx="451842" cy="451842"/>
          </a:xfrm>
          <a:prstGeom prst="roundRect">
            <a:avLst>
              <a:gd name="adj" fmla="val 2023513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7F90A03D-7E97-A277-2DD8-95078CA5E7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625" y="4372451"/>
            <a:ext cx="203359" cy="203359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3ABF394-394B-9A7A-B211-31CCED59150B}"/>
              </a:ext>
            </a:extLst>
          </p:cNvPr>
          <p:cNvSpPr/>
          <p:nvPr/>
        </p:nvSpPr>
        <p:spPr>
          <a:xfrm>
            <a:off x="685443" y="4850725"/>
            <a:ext cx="1882973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Stacked Layers</a:t>
            </a:r>
            <a:endParaRPr lang="en-US" sz="14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349132D-EFF7-2964-4E7C-623FFFE2B004}"/>
              </a:ext>
            </a:extLst>
          </p:cNvPr>
          <p:cNvSpPr/>
          <p:nvPr/>
        </p:nvSpPr>
        <p:spPr>
          <a:xfrm>
            <a:off x="685443" y="5176480"/>
            <a:ext cx="3652957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block is composed of multiple layers, including self-attention, feed-forward networks, residual connections, and normalisation layers.</a:t>
            </a:r>
            <a:endParaRPr lang="en-US" sz="115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FA03401-CB4E-A8DB-5DB4-A8486B5DFD63}"/>
              </a:ext>
            </a:extLst>
          </p:cNvPr>
          <p:cNvSpPr/>
          <p:nvPr/>
        </p:nvSpPr>
        <p:spPr>
          <a:xfrm>
            <a:off x="4647248" y="4090035"/>
            <a:ext cx="3969544" cy="1967627"/>
          </a:xfrm>
          <a:prstGeom prst="roundRect">
            <a:avLst>
              <a:gd name="adj" fmla="val 46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A0F7079-9B27-3F59-CB8A-9E1587A0C93F}"/>
              </a:ext>
            </a:extLst>
          </p:cNvPr>
          <p:cNvSpPr/>
          <p:nvPr/>
        </p:nvSpPr>
        <p:spPr>
          <a:xfrm>
            <a:off x="4805482" y="4248269"/>
            <a:ext cx="451842" cy="451842"/>
          </a:xfrm>
          <a:prstGeom prst="roundRect">
            <a:avLst>
              <a:gd name="adj" fmla="val 2023513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81135FC2-5F90-6673-B258-BFB2EC4C42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9664" y="4372451"/>
            <a:ext cx="203359" cy="203359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4678417A-2530-D9E1-F2A8-040E564EE4B9}"/>
              </a:ext>
            </a:extLst>
          </p:cNvPr>
          <p:cNvSpPr/>
          <p:nvPr/>
        </p:nvSpPr>
        <p:spPr>
          <a:xfrm>
            <a:off x="4805482" y="4850725"/>
            <a:ext cx="2217539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Residual Connections</a:t>
            </a:r>
            <a:endParaRPr lang="en-US" sz="145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4186442-C153-2012-14DA-C123920A836E}"/>
              </a:ext>
            </a:extLst>
          </p:cNvPr>
          <p:cNvSpPr/>
          <p:nvPr/>
        </p:nvSpPr>
        <p:spPr>
          <a:xfrm>
            <a:off x="4805482" y="5176480"/>
            <a:ext cx="3653076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Residual connections facilitate gradient flow, enabling the training of very deep networks.</a:t>
            </a:r>
            <a:endParaRPr lang="en-US" sz="115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0A6A4A30-AD33-FBE1-A0C6-9DB85E7C10DC}"/>
              </a:ext>
            </a:extLst>
          </p:cNvPr>
          <p:cNvSpPr/>
          <p:nvPr/>
        </p:nvSpPr>
        <p:spPr>
          <a:xfrm>
            <a:off x="527209" y="6208276"/>
            <a:ext cx="8089583" cy="1485662"/>
          </a:xfrm>
          <a:prstGeom prst="roundRect">
            <a:avLst>
              <a:gd name="adj" fmla="val 61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39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3EB4474C-FF77-F6D7-DAA2-3AEDD0C6C8D9}"/>
              </a:ext>
            </a:extLst>
          </p:cNvPr>
          <p:cNvSpPr/>
          <p:nvPr/>
        </p:nvSpPr>
        <p:spPr>
          <a:xfrm>
            <a:off x="685443" y="6366510"/>
            <a:ext cx="451842" cy="451842"/>
          </a:xfrm>
          <a:prstGeom prst="roundRect">
            <a:avLst>
              <a:gd name="adj" fmla="val 20235139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9447A0F5-CAA0-A635-941C-6FC4DD6158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9625" y="6490692"/>
            <a:ext cx="203359" cy="203359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6943FEE9-DBB4-056E-2621-D8863C26D9AD}"/>
              </a:ext>
            </a:extLst>
          </p:cNvPr>
          <p:cNvSpPr/>
          <p:nvPr/>
        </p:nvSpPr>
        <p:spPr>
          <a:xfrm>
            <a:off x="685443" y="6968966"/>
            <a:ext cx="20599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Layer Normalisation</a:t>
            </a:r>
            <a:endParaRPr lang="en-US" sz="145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9822B39-B4A2-84CA-2F49-256BA794CD96}"/>
              </a:ext>
            </a:extLst>
          </p:cNvPr>
          <p:cNvSpPr/>
          <p:nvPr/>
        </p:nvSpPr>
        <p:spPr>
          <a:xfrm>
            <a:off x="685443" y="7294721"/>
            <a:ext cx="7773114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Layer normalisation stabilises training and accelerates convergence.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97121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881" y="446961"/>
            <a:ext cx="12458581" cy="5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Transformers Generate Text: Next-Token Prediction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7521059" y="1361123"/>
            <a:ext cx="2031802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Predictive Power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521059" y="1777603"/>
            <a:ext cx="6548080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Given an initial prompt, the Transformer model predicts the most statistically probable next token, building text word by word.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21059" y="2460188"/>
            <a:ext cx="2031802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Learned Patterns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21059" y="2876669"/>
            <a:ext cx="6548080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prediction is based on intricate patterns and relationships learned from vast corpora of text data during its training phase.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21059" y="3559254"/>
            <a:ext cx="2802136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Autoregressive Decoding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21059" y="3975735"/>
            <a:ext cx="6548080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Through an autoregressive decoding process, each new token is generated sequentially, constantly conditioning on all previously generated outputs to maintain coherence and context.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21059" y="4918353"/>
            <a:ext cx="2911435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Foundation of AI Chatbots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21059" y="5334833"/>
            <a:ext cx="6548080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fundamental mechanism is the driving force behind sophisticated large language models like GPT, enabling AI assistants such as ChatGPT to produce human-like text.</a:t>
            </a:r>
            <a:endParaRPr lang="en-US" sz="125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471E85F-7D0E-817F-0C42-283E4EDBE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85" y="1070014"/>
            <a:ext cx="7112615" cy="702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0179" y="485180"/>
            <a:ext cx="8183642" cy="85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Beyond Text: Transformers in Vision, Audio, and More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0179" y="1548408"/>
            <a:ext cx="8183642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Transformers, initially designed for natural language, have proven their versatility across a multitude of domains.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179" y="1922145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0179" y="2436495"/>
            <a:ext cx="2452807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Vision Transformers (ViTs)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80179" y="2733080"/>
            <a:ext cx="8183642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 computer vision, ViTs have demonstrated superior performance, often outperforming traditional Convolutional Neural Networks (CNNs) in image recognition tasks.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179" y="3446264"/>
            <a:ext cx="34290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0179" y="3960614"/>
            <a:ext cx="1714857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Bioinformatics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80179" y="4257199"/>
            <a:ext cx="8183642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They are also successfully applied in complex scientific fields such as protein folding, revolutionising drug discovery and understanding biological structures.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179" y="4970383"/>
            <a:ext cx="342900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0179" y="5484733"/>
            <a:ext cx="1863923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Speech Recognition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80179" y="5781318"/>
            <a:ext cx="8183642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 audio processing, Transformers have significantly enhanced the accuracy and robustness of speech recognition systems, from voice assistants to transcription services.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179" y="6494502"/>
            <a:ext cx="342900" cy="3429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0179" y="7008852"/>
            <a:ext cx="1714857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Gaming AI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480179" y="7305437"/>
            <a:ext cx="8183642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Transformers are making strides in game-playing AI, enabling more intelligent and adaptive agents in complex virtual environments.</a:t>
            </a:r>
            <a:endParaRPr lang="en-US" sz="105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CE54A8E-F0C0-0008-84AF-491E510C0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75" y="0"/>
            <a:ext cx="6105525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0522" y="868799"/>
            <a:ext cx="7768471" cy="53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Milestones &amp; Models to Know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07800" y="1653897"/>
            <a:ext cx="22860" cy="5706904"/>
          </a:xfrm>
          <a:prstGeom prst="roundRect">
            <a:avLst>
              <a:gd name="adj" fmla="val 40000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84940" y="1833443"/>
            <a:ext cx="339447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44161" y="1781235"/>
            <a:ext cx="127278" cy="127278"/>
          </a:xfrm>
          <a:prstGeom prst="roundRect">
            <a:avLst>
              <a:gd name="adj" fmla="val 359214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6932" y="1712238"/>
            <a:ext cx="2122170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2018: GPT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886932" y="2079188"/>
            <a:ext cx="7149346" cy="54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introduction of the first Generative Pre-trained Transformer (GPT) marked a major breakthrough for various NLP tasks, showcasing its generative capabilities.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84940" y="3141345"/>
            <a:ext cx="339447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44161" y="3089136"/>
            <a:ext cx="127278" cy="127278"/>
          </a:xfrm>
          <a:prstGeom prst="roundRect">
            <a:avLst>
              <a:gd name="adj" fmla="val 359214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86932" y="3020139"/>
            <a:ext cx="2122170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2019: BERT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886932" y="3387090"/>
            <a:ext cx="7149346" cy="814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Bidirectional Encoder Representations from Transformers (BERT) revolutionised contextual understanding by processing text bidirectionally, significantly improving search and question-answering.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84940" y="4720828"/>
            <a:ext cx="339447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44161" y="4668619"/>
            <a:ext cx="127278" cy="127278"/>
          </a:xfrm>
          <a:prstGeom prst="roundRect">
            <a:avLst>
              <a:gd name="adj" fmla="val 359214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86932" y="4599623"/>
            <a:ext cx="3038951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2020+: GPT-3 &amp; Successors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886932" y="4966573"/>
            <a:ext cx="7149346" cy="814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With billions of parameters, GPT-3 and its subsequent versions demonstrated astonishing human-like text generation, opening new possibilities for creative and conversational AI.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84940" y="6300311"/>
            <a:ext cx="339447" cy="22860"/>
          </a:xfrm>
          <a:prstGeom prst="roundRect">
            <a:avLst>
              <a:gd name="adj" fmla="val 40000"/>
            </a:avLst>
          </a:prstGeom>
          <a:solidFill>
            <a:srgbClr val="2E2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44161" y="6248102"/>
            <a:ext cx="127278" cy="127278"/>
          </a:xfrm>
          <a:prstGeom prst="roundRect">
            <a:avLst>
              <a:gd name="adj" fmla="val 359214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86932" y="6179106"/>
            <a:ext cx="3567470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2024: Gemini, LLaMA &amp; Beyond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886932" y="6546056"/>
            <a:ext cx="7149346" cy="814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Current large-scale models like Google's Gemini and Meta's LLaMA continue to push the boundaries of AI, integrating multimodal capabilities and enhancing performance across diverse benchmarks.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82070" y="602575"/>
            <a:ext cx="7952661" cy="106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Future of Transformers: Expanding AI Horizons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082070" y="1921550"/>
            <a:ext cx="7952661" cy="1298734"/>
          </a:xfrm>
          <a:prstGeom prst="roundRect">
            <a:avLst>
              <a:gd name="adj" fmla="val 8449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59210" y="1921550"/>
            <a:ext cx="91440" cy="1298734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43650" y="2114550"/>
            <a:ext cx="2369344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Efficiency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343650" y="2482453"/>
            <a:ext cx="7498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Continued research focuses on improving the efficiency and scalability of Transformers, making them more accessible and powerful for a broader range of applications.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2070" y="3390424"/>
            <a:ext cx="7952661" cy="1298734"/>
          </a:xfrm>
          <a:prstGeom prst="roundRect">
            <a:avLst>
              <a:gd name="adj" fmla="val 8449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59210" y="3390424"/>
            <a:ext cx="91440" cy="1298734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43650" y="3583424"/>
            <a:ext cx="2669619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Multimodal Integration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343650" y="3951327"/>
            <a:ext cx="7498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integration of Transformers with diverse data types—including text, images, and audio—promises richer AI understanding and more human-like interaction.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2070" y="4859298"/>
            <a:ext cx="7952661" cy="1298734"/>
          </a:xfrm>
          <a:prstGeom prst="roundRect">
            <a:avLst>
              <a:gd name="adj" fmla="val 8449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59210" y="4859298"/>
            <a:ext cx="91440" cy="1298734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43650" y="5052298"/>
            <a:ext cx="2483168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Driving Generative AI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343650" y="5420201"/>
            <a:ext cx="7498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Transformers are at the forefront of generative AI, facilitating breakthroughs in creative content generation, robotics, and complex scientific discovery.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82070" y="6328172"/>
            <a:ext cx="7952661" cy="1298734"/>
          </a:xfrm>
          <a:prstGeom prst="roundRect">
            <a:avLst>
              <a:gd name="adj" fmla="val 8449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59210" y="6328172"/>
            <a:ext cx="91440" cy="1298734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43650" y="6521172"/>
            <a:ext cx="3028712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Foundation for Innovation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343650" y="6889075"/>
            <a:ext cx="7498080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 a foundational technology, Transformers will continue to underpin the development of tomorrow’s most intelligent and transformative AI systems.</a:t>
            </a:r>
            <a:endParaRPr lang="en-US" sz="13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EA25E43-CC29-8B8D-F64D-B35EF856A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8" y="0"/>
            <a:ext cx="5876251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1023</Words>
  <Application>Microsoft Office PowerPoint</Application>
  <PresentationFormat>Custom</PresentationFormat>
  <Paragraphs>100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Montserrat Black</vt:lpstr>
      <vt:lpstr>MingLiU_HKSCS-ExtB</vt:lpstr>
      <vt:lpstr>Arial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Dr. Ghulam Gilanie Janjua</cp:lastModifiedBy>
  <cp:revision>11</cp:revision>
  <dcterms:created xsi:type="dcterms:W3CDTF">2025-12-19T18:18:31Z</dcterms:created>
  <dcterms:modified xsi:type="dcterms:W3CDTF">2025-12-19T19:39:30Z</dcterms:modified>
</cp:coreProperties>
</file>